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4.xml"/><Relationship Id="rId3" Type="http://schemas.openxmlformats.org/officeDocument/2006/relationships/slide" Target="slide5.xml"/><Relationship Id="rId4" Type="http://schemas.openxmlformats.org/officeDocument/2006/relationships/slide" Target="slide6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9.xml"/><Relationship Id="rId8" Type="http://schemas.openxmlformats.org/officeDocument/2006/relationships/slide" Target="slide10.xml"/><Relationship Id="rId9" Type="http://schemas.openxmlformats.org/officeDocument/2006/relationships/slide" Target="slide11.xml"/><Relationship Id="rId10" Type="http://schemas.openxmlformats.org/officeDocument/2006/relationships/slide" Target="slide12.xml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2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18872" cy="118872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" y="384048"/>
            <a:ext cx="118872" cy="118872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877824" y="384048"/>
            <a:ext cx="118872" cy="118872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Java Event Planner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749808" y="2788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de eventos desktop em Java + Swing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749808" y="3474720"/>
            <a:ext cx="5852160" cy="384048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347472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SCC0504 — POO  ·  Versão Compacta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9808" y="42062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Equipe:  ____________   ·   ____________   ·   ____________   ·   ____________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83880" y="1691640"/>
            <a:ext cx="3602736" cy="2907792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E0E5E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83880" y="1719072"/>
            <a:ext cx="3602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Junho 2026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321040" y="2103120"/>
            <a:ext cx="420624" cy="420624"/>
          </a:xfrm>
          <a:prstGeom prst="roundRect">
            <a:avLst>
              <a:gd name="adj" fmla="val 8696"/>
            </a:avLst>
          </a:prstGeom>
          <a:solidFill>
            <a:srgbClr val="F0F2F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2103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805672" y="2103120"/>
            <a:ext cx="420624" cy="420624"/>
          </a:xfrm>
          <a:prstGeom prst="roundRect">
            <a:avLst>
              <a:gd name="adj" fmla="val 8696"/>
            </a:avLst>
          </a:prstGeom>
          <a:solidFill>
            <a:srgbClr val="F0F2F7"/>
          </a:solidFill>
          <a:ln/>
        </p:spPr>
      </p:sp>
      <p:sp>
        <p:nvSpPr>
          <p:cNvPr id="15" name="Text 13"/>
          <p:cNvSpPr/>
          <p:nvPr/>
        </p:nvSpPr>
        <p:spPr>
          <a:xfrm>
            <a:off x="8805672" y="2103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290304" y="2103120"/>
            <a:ext cx="420624" cy="420624"/>
          </a:xfrm>
          <a:prstGeom prst="roundRect">
            <a:avLst>
              <a:gd name="adj" fmla="val 8696"/>
            </a:avLst>
          </a:prstGeom>
          <a:solidFill>
            <a:srgbClr val="4285F4"/>
          </a:solidFill>
          <a:ln/>
        </p:spPr>
      </p:sp>
      <p:sp>
        <p:nvSpPr>
          <p:cNvPr id="17" name="Text 15"/>
          <p:cNvSpPr/>
          <p:nvPr/>
        </p:nvSpPr>
        <p:spPr>
          <a:xfrm>
            <a:off x="9290304" y="2103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774936" y="2103120"/>
            <a:ext cx="420624" cy="420624"/>
          </a:xfrm>
          <a:prstGeom prst="roundRect">
            <a:avLst>
              <a:gd name="adj" fmla="val 8696"/>
            </a:avLst>
          </a:prstGeom>
          <a:solidFill>
            <a:srgbClr val="F0F2F7"/>
          </a:solidFill>
          <a:ln/>
        </p:spPr>
      </p:sp>
      <p:sp>
        <p:nvSpPr>
          <p:cNvPr id="19" name="Text 17"/>
          <p:cNvSpPr/>
          <p:nvPr/>
        </p:nvSpPr>
        <p:spPr>
          <a:xfrm>
            <a:off x="9774936" y="2103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0259568" y="2103120"/>
            <a:ext cx="420624" cy="420624"/>
          </a:xfrm>
          <a:prstGeom prst="roundRect">
            <a:avLst>
              <a:gd name="adj" fmla="val 8696"/>
            </a:avLst>
          </a:prstGeom>
          <a:solidFill>
            <a:srgbClr val="F0F2F7"/>
          </a:solidFill>
          <a:ln/>
        </p:spPr>
      </p:sp>
      <p:sp>
        <p:nvSpPr>
          <p:cNvPr id="21" name="Text 19"/>
          <p:cNvSpPr/>
          <p:nvPr/>
        </p:nvSpPr>
        <p:spPr>
          <a:xfrm>
            <a:off x="10259568" y="2103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0744200" y="2103120"/>
            <a:ext cx="420624" cy="420624"/>
          </a:xfrm>
          <a:prstGeom prst="roundRect">
            <a:avLst>
              <a:gd name="adj" fmla="val 8696"/>
            </a:avLst>
          </a:prstGeom>
          <a:solidFill>
            <a:srgbClr val="F0F2F7"/>
          </a:solidFill>
          <a:ln/>
        </p:spPr>
      </p:sp>
      <p:sp>
        <p:nvSpPr>
          <p:cNvPr id="23" name="Text 21"/>
          <p:cNvSpPr/>
          <p:nvPr/>
        </p:nvSpPr>
        <p:spPr>
          <a:xfrm>
            <a:off x="10744200" y="2103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1228832" y="2103120"/>
            <a:ext cx="420624" cy="420624"/>
          </a:xfrm>
          <a:prstGeom prst="roundRect">
            <a:avLst>
              <a:gd name="adj" fmla="val 8696"/>
            </a:avLst>
          </a:prstGeom>
          <a:solidFill>
            <a:srgbClr val="F0F2F7"/>
          </a:solidFill>
          <a:ln/>
        </p:spPr>
      </p:sp>
      <p:sp>
        <p:nvSpPr>
          <p:cNvPr id="25" name="Text 23"/>
          <p:cNvSpPr/>
          <p:nvPr/>
        </p:nvSpPr>
        <p:spPr>
          <a:xfrm>
            <a:off x="11228832" y="2103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321040" y="2587752"/>
            <a:ext cx="420624" cy="420624"/>
          </a:xfrm>
          <a:prstGeom prst="roundRect">
            <a:avLst>
              <a:gd name="adj" fmla="val 8696"/>
            </a:avLst>
          </a:prstGeom>
          <a:solidFill>
            <a:srgbClr val="EA4335"/>
          </a:solidFill>
          <a:ln/>
        </p:spPr>
      </p:sp>
      <p:sp>
        <p:nvSpPr>
          <p:cNvPr id="27" name="Text 25"/>
          <p:cNvSpPr/>
          <p:nvPr/>
        </p:nvSpPr>
        <p:spPr>
          <a:xfrm>
            <a:off x="8321040" y="2587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805672" y="2587752"/>
            <a:ext cx="420624" cy="420624"/>
          </a:xfrm>
          <a:prstGeom prst="roundRect">
            <a:avLst>
              <a:gd name="adj" fmla="val 8696"/>
            </a:avLst>
          </a:prstGeom>
          <a:solidFill>
            <a:srgbClr val="F0F2F7"/>
          </a:solidFill>
          <a:ln/>
        </p:spPr>
      </p:sp>
      <p:sp>
        <p:nvSpPr>
          <p:cNvPr id="29" name="Text 27"/>
          <p:cNvSpPr/>
          <p:nvPr/>
        </p:nvSpPr>
        <p:spPr>
          <a:xfrm>
            <a:off x="8805672" y="2587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9290304" y="2587752"/>
            <a:ext cx="420624" cy="420624"/>
          </a:xfrm>
          <a:prstGeom prst="roundRect">
            <a:avLst>
              <a:gd name="adj" fmla="val 8696"/>
            </a:avLst>
          </a:prstGeom>
          <a:solidFill>
            <a:srgbClr val="F0F2F7"/>
          </a:solidFill>
          <a:ln/>
        </p:spPr>
      </p:sp>
      <p:sp>
        <p:nvSpPr>
          <p:cNvPr id="31" name="Text 29"/>
          <p:cNvSpPr/>
          <p:nvPr/>
        </p:nvSpPr>
        <p:spPr>
          <a:xfrm>
            <a:off x="9290304" y="2587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774936" y="2587752"/>
            <a:ext cx="420624" cy="420624"/>
          </a:xfrm>
          <a:prstGeom prst="roundRect">
            <a:avLst>
              <a:gd name="adj" fmla="val 8696"/>
            </a:avLst>
          </a:prstGeom>
          <a:solidFill>
            <a:srgbClr val="F0F2F7"/>
          </a:solidFill>
          <a:ln/>
        </p:spPr>
      </p:sp>
      <p:sp>
        <p:nvSpPr>
          <p:cNvPr id="33" name="Text 31"/>
          <p:cNvSpPr/>
          <p:nvPr/>
        </p:nvSpPr>
        <p:spPr>
          <a:xfrm>
            <a:off x="9774936" y="2587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0259568" y="2587752"/>
            <a:ext cx="420624" cy="420624"/>
          </a:xfrm>
          <a:prstGeom prst="roundRect">
            <a:avLst>
              <a:gd name="adj" fmla="val 8696"/>
            </a:avLst>
          </a:prstGeom>
          <a:solidFill>
            <a:srgbClr val="F0F2F7"/>
          </a:solidFill>
          <a:ln/>
        </p:spPr>
      </p:sp>
      <p:sp>
        <p:nvSpPr>
          <p:cNvPr id="35" name="Text 33"/>
          <p:cNvSpPr/>
          <p:nvPr/>
        </p:nvSpPr>
        <p:spPr>
          <a:xfrm>
            <a:off x="10259568" y="2587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0744200" y="2587752"/>
            <a:ext cx="420624" cy="420624"/>
          </a:xfrm>
          <a:prstGeom prst="roundRect">
            <a:avLst>
              <a:gd name="adj" fmla="val 8696"/>
            </a:avLst>
          </a:prstGeom>
          <a:solidFill>
            <a:srgbClr val="F0F2F7"/>
          </a:solidFill>
          <a:ln/>
        </p:spPr>
      </p:sp>
      <p:sp>
        <p:nvSpPr>
          <p:cNvPr id="37" name="Text 35"/>
          <p:cNvSpPr/>
          <p:nvPr/>
        </p:nvSpPr>
        <p:spPr>
          <a:xfrm>
            <a:off x="10744200" y="2587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1228832" y="2587752"/>
            <a:ext cx="420624" cy="420624"/>
          </a:xfrm>
          <a:prstGeom prst="roundRect">
            <a:avLst>
              <a:gd name="adj" fmla="val 8696"/>
            </a:avLst>
          </a:prstGeom>
          <a:solidFill>
            <a:srgbClr val="F0F2F7"/>
          </a:solidFill>
          <a:ln/>
        </p:spPr>
      </p:sp>
      <p:sp>
        <p:nvSpPr>
          <p:cNvPr id="39" name="Text 37"/>
          <p:cNvSpPr/>
          <p:nvPr/>
        </p:nvSpPr>
        <p:spPr>
          <a:xfrm>
            <a:off x="11228832" y="2587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321040" y="3072384"/>
            <a:ext cx="420624" cy="420624"/>
          </a:xfrm>
          <a:prstGeom prst="roundRect">
            <a:avLst>
              <a:gd name="adj" fmla="val 8696"/>
            </a:avLst>
          </a:prstGeom>
          <a:solidFill>
            <a:srgbClr val="34A853"/>
          </a:solidFill>
          <a:ln/>
        </p:spPr>
      </p:sp>
      <p:sp>
        <p:nvSpPr>
          <p:cNvPr id="41" name="Text 39"/>
          <p:cNvSpPr/>
          <p:nvPr/>
        </p:nvSpPr>
        <p:spPr>
          <a:xfrm>
            <a:off x="8321040" y="3072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8805672" y="3072384"/>
            <a:ext cx="420624" cy="420624"/>
          </a:xfrm>
          <a:prstGeom prst="roundRect">
            <a:avLst>
              <a:gd name="adj" fmla="val 8696"/>
            </a:avLst>
          </a:prstGeom>
          <a:solidFill>
            <a:srgbClr val="F0F2F7"/>
          </a:solidFill>
          <a:ln/>
        </p:spPr>
      </p:sp>
      <p:sp>
        <p:nvSpPr>
          <p:cNvPr id="43" name="Text 41"/>
          <p:cNvSpPr/>
          <p:nvPr/>
        </p:nvSpPr>
        <p:spPr>
          <a:xfrm>
            <a:off x="8805672" y="3072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9290304" y="3072384"/>
            <a:ext cx="420624" cy="420624"/>
          </a:xfrm>
          <a:prstGeom prst="roundRect">
            <a:avLst>
              <a:gd name="adj" fmla="val 8696"/>
            </a:avLst>
          </a:prstGeom>
          <a:solidFill>
            <a:srgbClr val="F0F2F7"/>
          </a:solidFill>
          <a:ln/>
        </p:spPr>
      </p:sp>
      <p:sp>
        <p:nvSpPr>
          <p:cNvPr id="45" name="Text 43"/>
          <p:cNvSpPr/>
          <p:nvPr/>
        </p:nvSpPr>
        <p:spPr>
          <a:xfrm>
            <a:off x="9290304" y="3072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9774936" y="3072384"/>
            <a:ext cx="420624" cy="420624"/>
          </a:xfrm>
          <a:prstGeom prst="roundRect">
            <a:avLst>
              <a:gd name="adj" fmla="val 8696"/>
            </a:avLst>
          </a:prstGeom>
          <a:solidFill>
            <a:srgbClr val="F0F2F7"/>
          </a:solidFill>
          <a:ln/>
        </p:spPr>
      </p:sp>
      <p:sp>
        <p:nvSpPr>
          <p:cNvPr id="47" name="Text 45"/>
          <p:cNvSpPr/>
          <p:nvPr/>
        </p:nvSpPr>
        <p:spPr>
          <a:xfrm>
            <a:off x="9774936" y="3072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10259568" y="3072384"/>
            <a:ext cx="420624" cy="420624"/>
          </a:xfrm>
          <a:prstGeom prst="roundRect">
            <a:avLst>
              <a:gd name="adj" fmla="val 8696"/>
            </a:avLst>
          </a:prstGeom>
          <a:solidFill>
            <a:srgbClr val="F0F2F7"/>
          </a:solidFill>
          <a:ln/>
        </p:spPr>
      </p:sp>
      <p:sp>
        <p:nvSpPr>
          <p:cNvPr id="49" name="Text 47"/>
          <p:cNvSpPr/>
          <p:nvPr/>
        </p:nvSpPr>
        <p:spPr>
          <a:xfrm>
            <a:off x="10259568" y="3072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10744200" y="3072384"/>
            <a:ext cx="420624" cy="420624"/>
          </a:xfrm>
          <a:prstGeom prst="roundRect">
            <a:avLst>
              <a:gd name="adj" fmla="val 8696"/>
            </a:avLst>
          </a:prstGeom>
          <a:solidFill>
            <a:srgbClr val="F0F2F7"/>
          </a:solidFill>
          <a:ln/>
        </p:spPr>
      </p:sp>
      <p:sp>
        <p:nvSpPr>
          <p:cNvPr id="51" name="Text 49"/>
          <p:cNvSpPr/>
          <p:nvPr/>
        </p:nvSpPr>
        <p:spPr>
          <a:xfrm>
            <a:off x="10744200" y="3072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11228832" y="3072384"/>
            <a:ext cx="420624" cy="420624"/>
          </a:xfrm>
          <a:prstGeom prst="roundRect">
            <a:avLst>
              <a:gd name="adj" fmla="val 8696"/>
            </a:avLst>
          </a:prstGeom>
          <a:solidFill>
            <a:srgbClr val="4285F4"/>
          </a:solidFill>
          <a:ln/>
        </p:spPr>
      </p:sp>
      <p:sp>
        <p:nvSpPr>
          <p:cNvPr id="53" name="Text 51"/>
          <p:cNvSpPr/>
          <p:nvPr/>
        </p:nvSpPr>
        <p:spPr>
          <a:xfrm>
            <a:off x="11228832" y="3072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8321040" y="3557016"/>
            <a:ext cx="420624" cy="420624"/>
          </a:xfrm>
          <a:prstGeom prst="roundRect">
            <a:avLst>
              <a:gd name="adj" fmla="val 8696"/>
            </a:avLst>
          </a:prstGeom>
          <a:solidFill>
            <a:srgbClr val="EA4335"/>
          </a:solidFill>
          <a:ln/>
        </p:spPr>
      </p:sp>
      <p:sp>
        <p:nvSpPr>
          <p:cNvPr id="55" name="Text 53"/>
          <p:cNvSpPr/>
          <p:nvPr/>
        </p:nvSpPr>
        <p:spPr>
          <a:xfrm>
            <a:off x="8321040" y="35570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8805672" y="3557016"/>
            <a:ext cx="420624" cy="420624"/>
          </a:xfrm>
          <a:prstGeom prst="roundRect">
            <a:avLst>
              <a:gd name="adj" fmla="val 8696"/>
            </a:avLst>
          </a:prstGeom>
          <a:solidFill>
            <a:srgbClr val="F0F2F7"/>
          </a:solidFill>
          <a:ln/>
        </p:spPr>
      </p:sp>
      <p:sp>
        <p:nvSpPr>
          <p:cNvPr id="57" name="Text 55"/>
          <p:cNvSpPr/>
          <p:nvPr/>
        </p:nvSpPr>
        <p:spPr>
          <a:xfrm>
            <a:off x="8805672" y="35570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9290304" y="3557016"/>
            <a:ext cx="420624" cy="420624"/>
          </a:xfrm>
          <a:prstGeom prst="roundRect">
            <a:avLst>
              <a:gd name="adj" fmla="val 8696"/>
            </a:avLst>
          </a:prstGeom>
          <a:solidFill>
            <a:srgbClr val="F0F2F7"/>
          </a:solidFill>
          <a:ln/>
        </p:spPr>
      </p:sp>
      <p:sp>
        <p:nvSpPr>
          <p:cNvPr id="59" name="Text 57"/>
          <p:cNvSpPr/>
          <p:nvPr/>
        </p:nvSpPr>
        <p:spPr>
          <a:xfrm>
            <a:off x="9290304" y="35570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9774936" y="3557016"/>
            <a:ext cx="420624" cy="420624"/>
          </a:xfrm>
          <a:prstGeom prst="roundRect">
            <a:avLst>
              <a:gd name="adj" fmla="val 8696"/>
            </a:avLst>
          </a:prstGeom>
          <a:solidFill>
            <a:srgbClr val="34A853"/>
          </a:solidFill>
          <a:ln/>
        </p:spPr>
      </p:sp>
      <p:sp>
        <p:nvSpPr>
          <p:cNvPr id="61" name="Text 59"/>
          <p:cNvSpPr/>
          <p:nvPr/>
        </p:nvSpPr>
        <p:spPr>
          <a:xfrm>
            <a:off x="9774936" y="35570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10259568" y="3557016"/>
            <a:ext cx="420624" cy="420624"/>
          </a:xfrm>
          <a:prstGeom prst="roundRect">
            <a:avLst>
              <a:gd name="adj" fmla="val 8696"/>
            </a:avLst>
          </a:prstGeom>
          <a:solidFill>
            <a:srgbClr val="F0F2F7"/>
          </a:solidFill>
          <a:ln/>
        </p:spPr>
      </p:sp>
      <p:sp>
        <p:nvSpPr>
          <p:cNvPr id="63" name="Text 61"/>
          <p:cNvSpPr/>
          <p:nvPr/>
        </p:nvSpPr>
        <p:spPr>
          <a:xfrm>
            <a:off x="10259568" y="35570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10744200" y="3557016"/>
            <a:ext cx="420624" cy="420624"/>
          </a:xfrm>
          <a:prstGeom prst="roundRect">
            <a:avLst>
              <a:gd name="adj" fmla="val 8696"/>
            </a:avLst>
          </a:prstGeom>
          <a:solidFill>
            <a:srgbClr val="F0F2F7"/>
          </a:solidFill>
          <a:ln/>
        </p:spPr>
      </p:sp>
      <p:sp>
        <p:nvSpPr>
          <p:cNvPr id="65" name="Text 63"/>
          <p:cNvSpPr/>
          <p:nvPr/>
        </p:nvSpPr>
        <p:spPr>
          <a:xfrm>
            <a:off x="10744200" y="35570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11228832" y="3557016"/>
            <a:ext cx="420624" cy="420624"/>
          </a:xfrm>
          <a:prstGeom prst="roundRect">
            <a:avLst>
              <a:gd name="adj" fmla="val 8696"/>
            </a:avLst>
          </a:prstGeom>
          <a:solidFill>
            <a:srgbClr val="F0F2F7"/>
          </a:solidFill>
          <a:ln/>
        </p:spPr>
      </p:sp>
      <p:sp>
        <p:nvSpPr>
          <p:cNvPr id="67" name="Text 65"/>
          <p:cNvSpPr/>
          <p:nvPr/>
        </p:nvSpPr>
        <p:spPr>
          <a:xfrm>
            <a:off x="11228832" y="35570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8321040" y="4041648"/>
            <a:ext cx="420624" cy="420624"/>
          </a:xfrm>
          <a:prstGeom prst="roundRect">
            <a:avLst>
              <a:gd name="adj" fmla="val 8696"/>
            </a:avLst>
          </a:prstGeom>
          <a:solidFill>
            <a:srgbClr val="F0F2F7"/>
          </a:solidFill>
          <a:ln/>
        </p:spPr>
      </p:sp>
      <p:sp>
        <p:nvSpPr>
          <p:cNvPr id="69" name="Text 67"/>
          <p:cNvSpPr/>
          <p:nvPr/>
        </p:nvSpPr>
        <p:spPr>
          <a:xfrm>
            <a:off x="8321040" y="4041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8805672" y="4041648"/>
            <a:ext cx="420624" cy="420624"/>
          </a:xfrm>
          <a:prstGeom prst="roundRect">
            <a:avLst>
              <a:gd name="adj" fmla="val 8696"/>
            </a:avLst>
          </a:prstGeom>
          <a:solidFill>
            <a:srgbClr val="F0F2F7"/>
          </a:solidFill>
          <a:ln/>
        </p:spPr>
      </p:sp>
      <p:sp>
        <p:nvSpPr>
          <p:cNvPr id="71" name="Text 69"/>
          <p:cNvSpPr/>
          <p:nvPr/>
        </p:nvSpPr>
        <p:spPr>
          <a:xfrm>
            <a:off x="8805672" y="4041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9290304" y="4041648"/>
            <a:ext cx="420624" cy="420624"/>
          </a:xfrm>
          <a:prstGeom prst="roundRect">
            <a:avLst>
              <a:gd name="adj" fmla="val 8696"/>
            </a:avLst>
          </a:prstGeom>
          <a:solidFill>
            <a:srgbClr val="F0F2F7"/>
          </a:solidFill>
          <a:ln/>
        </p:spPr>
      </p:sp>
      <p:sp>
        <p:nvSpPr>
          <p:cNvPr id="73" name="Text 71"/>
          <p:cNvSpPr/>
          <p:nvPr/>
        </p:nvSpPr>
        <p:spPr>
          <a:xfrm>
            <a:off x="9290304" y="4041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9774936" y="4041648"/>
            <a:ext cx="420624" cy="420624"/>
          </a:xfrm>
          <a:prstGeom prst="roundRect">
            <a:avLst>
              <a:gd name="adj" fmla="val 8696"/>
            </a:avLst>
          </a:prstGeom>
          <a:solidFill>
            <a:srgbClr val="F0F2F7"/>
          </a:solidFill>
          <a:ln/>
        </p:spPr>
      </p:sp>
      <p:sp>
        <p:nvSpPr>
          <p:cNvPr id="75" name="Text 73"/>
          <p:cNvSpPr/>
          <p:nvPr/>
        </p:nvSpPr>
        <p:spPr>
          <a:xfrm>
            <a:off x="9774936" y="4041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10259568" y="4041648"/>
            <a:ext cx="420624" cy="420624"/>
          </a:xfrm>
          <a:prstGeom prst="roundRect">
            <a:avLst>
              <a:gd name="adj" fmla="val 8696"/>
            </a:avLst>
          </a:prstGeom>
          <a:solidFill>
            <a:srgbClr val="F0F2F7"/>
          </a:solidFill>
          <a:ln/>
        </p:spPr>
      </p:sp>
      <p:sp>
        <p:nvSpPr>
          <p:cNvPr id="77" name="Text 75"/>
          <p:cNvSpPr/>
          <p:nvPr/>
        </p:nvSpPr>
        <p:spPr>
          <a:xfrm>
            <a:off x="10259568" y="4041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10744200" y="4041648"/>
            <a:ext cx="420624" cy="420624"/>
          </a:xfrm>
          <a:prstGeom prst="roundRect">
            <a:avLst>
              <a:gd name="adj" fmla="val 8696"/>
            </a:avLst>
          </a:prstGeom>
          <a:solidFill>
            <a:srgbClr val="F0F2F7"/>
          </a:solidFill>
          <a:ln/>
        </p:spPr>
      </p:sp>
      <p:sp>
        <p:nvSpPr>
          <p:cNvPr id="79" name="Text 77"/>
          <p:cNvSpPr/>
          <p:nvPr/>
        </p:nvSpPr>
        <p:spPr>
          <a:xfrm>
            <a:off x="10744200" y="4041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11228832" y="4041648"/>
            <a:ext cx="420624" cy="420624"/>
          </a:xfrm>
          <a:prstGeom prst="roundRect">
            <a:avLst>
              <a:gd name="adj" fmla="val 8696"/>
            </a:avLst>
          </a:prstGeom>
          <a:solidFill>
            <a:srgbClr val="F0F2F7"/>
          </a:solidFill>
          <a:ln/>
        </p:spPr>
      </p:sp>
      <p:sp>
        <p:nvSpPr>
          <p:cNvPr id="81" name="Text 79"/>
          <p:cNvSpPr/>
          <p:nvPr/>
        </p:nvSpPr>
        <p:spPr>
          <a:xfrm>
            <a:off x="11228832" y="4041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18872" cy="118872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" y="384048"/>
            <a:ext cx="118872" cy="118872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877824" y="384048"/>
            <a:ext cx="118872" cy="118872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5" name="Text 3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3"/>
                </a:solidFill>
              </a:rPr>
              <a:t>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5B6473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Agenda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é o projeto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6492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33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Aplicativo de calendário e gestão de eventos (reuniões, aniversários, compromissos).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33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Calendário mensal de um lado; lista de eventos do dia do outro.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33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Criar, editar, excluir e buscar eventos; navegar entre meses; botão Hoje.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33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Lembretes das próximas 24h ao abrir o programa (sem thread, versão Compacta).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33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salvo em arquivo CSV e recarregado na inicialização.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33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Opcionais: categorias coloridas e participantes (nome + e-mail).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092440" y="1691640"/>
            <a:ext cx="3602736" cy="2907792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E0E5E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092440" y="1719072"/>
            <a:ext cx="3602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Junho 2026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0" y="2103120"/>
            <a:ext cx="420624" cy="420624"/>
          </a:xfrm>
          <a:prstGeom prst="roundRect">
            <a:avLst>
              <a:gd name="adj" fmla="val 8696"/>
            </a:avLst>
          </a:prstGeom>
          <a:solidFill>
            <a:srgbClr val="F0F2F7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0" y="2103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714232" y="2103120"/>
            <a:ext cx="420624" cy="420624"/>
          </a:xfrm>
          <a:prstGeom prst="roundRect">
            <a:avLst>
              <a:gd name="adj" fmla="val 8696"/>
            </a:avLst>
          </a:prstGeom>
          <a:solidFill>
            <a:srgbClr val="F0F2F7"/>
          </a:solidFill>
          <a:ln/>
        </p:spPr>
      </p:sp>
      <p:sp>
        <p:nvSpPr>
          <p:cNvPr id="14" name="Text 12"/>
          <p:cNvSpPr/>
          <p:nvPr/>
        </p:nvSpPr>
        <p:spPr>
          <a:xfrm>
            <a:off x="8714232" y="2103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9198864" y="2103120"/>
            <a:ext cx="420624" cy="420624"/>
          </a:xfrm>
          <a:prstGeom prst="roundRect">
            <a:avLst>
              <a:gd name="adj" fmla="val 8696"/>
            </a:avLst>
          </a:prstGeom>
          <a:solidFill>
            <a:srgbClr val="4285F4"/>
          </a:solidFill>
          <a:ln/>
        </p:spPr>
      </p:sp>
      <p:sp>
        <p:nvSpPr>
          <p:cNvPr id="16" name="Text 14"/>
          <p:cNvSpPr/>
          <p:nvPr/>
        </p:nvSpPr>
        <p:spPr>
          <a:xfrm>
            <a:off x="9198864" y="2103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683496" y="2103120"/>
            <a:ext cx="420624" cy="420624"/>
          </a:xfrm>
          <a:prstGeom prst="roundRect">
            <a:avLst>
              <a:gd name="adj" fmla="val 8696"/>
            </a:avLst>
          </a:prstGeom>
          <a:solidFill>
            <a:srgbClr val="F0F2F7"/>
          </a:solidFill>
          <a:ln/>
        </p:spPr>
      </p:sp>
      <p:sp>
        <p:nvSpPr>
          <p:cNvPr id="18" name="Text 16"/>
          <p:cNvSpPr/>
          <p:nvPr/>
        </p:nvSpPr>
        <p:spPr>
          <a:xfrm>
            <a:off x="9683496" y="2103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0168128" y="2103120"/>
            <a:ext cx="420624" cy="420624"/>
          </a:xfrm>
          <a:prstGeom prst="roundRect">
            <a:avLst>
              <a:gd name="adj" fmla="val 8696"/>
            </a:avLst>
          </a:prstGeom>
          <a:solidFill>
            <a:srgbClr val="F0F2F7"/>
          </a:solidFill>
          <a:ln/>
        </p:spPr>
      </p:sp>
      <p:sp>
        <p:nvSpPr>
          <p:cNvPr id="20" name="Text 18"/>
          <p:cNvSpPr/>
          <p:nvPr/>
        </p:nvSpPr>
        <p:spPr>
          <a:xfrm>
            <a:off x="10168128" y="2103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0652760" y="2103120"/>
            <a:ext cx="420624" cy="420624"/>
          </a:xfrm>
          <a:prstGeom prst="roundRect">
            <a:avLst>
              <a:gd name="adj" fmla="val 8696"/>
            </a:avLst>
          </a:prstGeom>
          <a:solidFill>
            <a:srgbClr val="F0F2F7"/>
          </a:solidFill>
          <a:ln/>
        </p:spPr>
      </p:sp>
      <p:sp>
        <p:nvSpPr>
          <p:cNvPr id="22" name="Text 20"/>
          <p:cNvSpPr/>
          <p:nvPr/>
        </p:nvSpPr>
        <p:spPr>
          <a:xfrm>
            <a:off x="10652760" y="2103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1137392" y="2103120"/>
            <a:ext cx="420624" cy="420624"/>
          </a:xfrm>
          <a:prstGeom prst="roundRect">
            <a:avLst>
              <a:gd name="adj" fmla="val 8696"/>
            </a:avLst>
          </a:prstGeom>
          <a:solidFill>
            <a:srgbClr val="F0F2F7"/>
          </a:solidFill>
          <a:ln/>
        </p:spPr>
      </p:sp>
      <p:sp>
        <p:nvSpPr>
          <p:cNvPr id="24" name="Text 22"/>
          <p:cNvSpPr/>
          <p:nvPr/>
        </p:nvSpPr>
        <p:spPr>
          <a:xfrm>
            <a:off x="11137392" y="2103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229600" y="2587752"/>
            <a:ext cx="420624" cy="420624"/>
          </a:xfrm>
          <a:prstGeom prst="roundRect">
            <a:avLst>
              <a:gd name="adj" fmla="val 8696"/>
            </a:avLst>
          </a:prstGeom>
          <a:solidFill>
            <a:srgbClr val="EA4335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0" y="2587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714232" y="2587752"/>
            <a:ext cx="420624" cy="420624"/>
          </a:xfrm>
          <a:prstGeom prst="roundRect">
            <a:avLst>
              <a:gd name="adj" fmla="val 8696"/>
            </a:avLst>
          </a:prstGeom>
          <a:solidFill>
            <a:srgbClr val="F0F2F7"/>
          </a:solidFill>
          <a:ln/>
        </p:spPr>
      </p:sp>
      <p:sp>
        <p:nvSpPr>
          <p:cNvPr id="28" name="Text 26"/>
          <p:cNvSpPr/>
          <p:nvPr/>
        </p:nvSpPr>
        <p:spPr>
          <a:xfrm>
            <a:off x="8714232" y="2587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198864" y="2587752"/>
            <a:ext cx="420624" cy="420624"/>
          </a:xfrm>
          <a:prstGeom prst="roundRect">
            <a:avLst>
              <a:gd name="adj" fmla="val 8696"/>
            </a:avLst>
          </a:prstGeom>
          <a:solidFill>
            <a:srgbClr val="F0F2F7"/>
          </a:solidFill>
          <a:ln/>
        </p:spPr>
      </p:sp>
      <p:sp>
        <p:nvSpPr>
          <p:cNvPr id="30" name="Text 28"/>
          <p:cNvSpPr/>
          <p:nvPr/>
        </p:nvSpPr>
        <p:spPr>
          <a:xfrm>
            <a:off x="9198864" y="2587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9683496" y="2587752"/>
            <a:ext cx="420624" cy="420624"/>
          </a:xfrm>
          <a:prstGeom prst="roundRect">
            <a:avLst>
              <a:gd name="adj" fmla="val 8696"/>
            </a:avLst>
          </a:prstGeom>
          <a:solidFill>
            <a:srgbClr val="F0F2F7"/>
          </a:solidFill>
          <a:ln/>
        </p:spPr>
      </p:sp>
      <p:sp>
        <p:nvSpPr>
          <p:cNvPr id="32" name="Text 30"/>
          <p:cNvSpPr/>
          <p:nvPr/>
        </p:nvSpPr>
        <p:spPr>
          <a:xfrm>
            <a:off x="9683496" y="2587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0168128" y="2587752"/>
            <a:ext cx="420624" cy="420624"/>
          </a:xfrm>
          <a:prstGeom prst="roundRect">
            <a:avLst>
              <a:gd name="adj" fmla="val 8696"/>
            </a:avLst>
          </a:prstGeom>
          <a:solidFill>
            <a:srgbClr val="F0F2F7"/>
          </a:solidFill>
          <a:ln/>
        </p:spPr>
      </p:sp>
      <p:sp>
        <p:nvSpPr>
          <p:cNvPr id="34" name="Text 32"/>
          <p:cNvSpPr/>
          <p:nvPr/>
        </p:nvSpPr>
        <p:spPr>
          <a:xfrm>
            <a:off x="10168128" y="2587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0652760" y="2587752"/>
            <a:ext cx="420624" cy="420624"/>
          </a:xfrm>
          <a:prstGeom prst="roundRect">
            <a:avLst>
              <a:gd name="adj" fmla="val 8696"/>
            </a:avLst>
          </a:prstGeom>
          <a:solidFill>
            <a:srgbClr val="F0F2F7"/>
          </a:solidFill>
          <a:ln/>
        </p:spPr>
      </p:sp>
      <p:sp>
        <p:nvSpPr>
          <p:cNvPr id="36" name="Text 34"/>
          <p:cNvSpPr/>
          <p:nvPr/>
        </p:nvSpPr>
        <p:spPr>
          <a:xfrm>
            <a:off x="10652760" y="2587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1137392" y="2587752"/>
            <a:ext cx="420624" cy="420624"/>
          </a:xfrm>
          <a:prstGeom prst="roundRect">
            <a:avLst>
              <a:gd name="adj" fmla="val 8696"/>
            </a:avLst>
          </a:prstGeom>
          <a:solidFill>
            <a:srgbClr val="F0F2F7"/>
          </a:solidFill>
          <a:ln/>
        </p:spPr>
      </p:sp>
      <p:sp>
        <p:nvSpPr>
          <p:cNvPr id="38" name="Text 36"/>
          <p:cNvSpPr/>
          <p:nvPr/>
        </p:nvSpPr>
        <p:spPr>
          <a:xfrm>
            <a:off x="11137392" y="2587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229600" y="3072384"/>
            <a:ext cx="420624" cy="420624"/>
          </a:xfrm>
          <a:prstGeom prst="roundRect">
            <a:avLst>
              <a:gd name="adj" fmla="val 8696"/>
            </a:avLst>
          </a:prstGeom>
          <a:solidFill>
            <a:srgbClr val="34A853"/>
          </a:solidFill>
          <a:ln/>
        </p:spPr>
      </p:sp>
      <p:sp>
        <p:nvSpPr>
          <p:cNvPr id="40" name="Text 38"/>
          <p:cNvSpPr/>
          <p:nvPr/>
        </p:nvSpPr>
        <p:spPr>
          <a:xfrm>
            <a:off x="8229600" y="3072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714232" y="3072384"/>
            <a:ext cx="420624" cy="420624"/>
          </a:xfrm>
          <a:prstGeom prst="roundRect">
            <a:avLst>
              <a:gd name="adj" fmla="val 8696"/>
            </a:avLst>
          </a:prstGeom>
          <a:solidFill>
            <a:srgbClr val="F0F2F7"/>
          </a:solidFill>
          <a:ln/>
        </p:spPr>
      </p:sp>
      <p:sp>
        <p:nvSpPr>
          <p:cNvPr id="42" name="Text 40"/>
          <p:cNvSpPr/>
          <p:nvPr/>
        </p:nvSpPr>
        <p:spPr>
          <a:xfrm>
            <a:off x="8714232" y="3072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9198864" y="3072384"/>
            <a:ext cx="420624" cy="420624"/>
          </a:xfrm>
          <a:prstGeom prst="roundRect">
            <a:avLst>
              <a:gd name="adj" fmla="val 8696"/>
            </a:avLst>
          </a:prstGeom>
          <a:solidFill>
            <a:srgbClr val="F0F2F7"/>
          </a:solidFill>
          <a:ln/>
        </p:spPr>
      </p:sp>
      <p:sp>
        <p:nvSpPr>
          <p:cNvPr id="44" name="Text 42"/>
          <p:cNvSpPr/>
          <p:nvPr/>
        </p:nvSpPr>
        <p:spPr>
          <a:xfrm>
            <a:off x="9198864" y="3072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683496" y="3072384"/>
            <a:ext cx="420624" cy="420624"/>
          </a:xfrm>
          <a:prstGeom prst="roundRect">
            <a:avLst>
              <a:gd name="adj" fmla="val 8696"/>
            </a:avLst>
          </a:prstGeom>
          <a:solidFill>
            <a:srgbClr val="F0F2F7"/>
          </a:solidFill>
          <a:ln/>
        </p:spPr>
      </p:sp>
      <p:sp>
        <p:nvSpPr>
          <p:cNvPr id="46" name="Text 44"/>
          <p:cNvSpPr/>
          <p:nvPr/>
        </p:nvSpPr>
        <p:spPr>
          <a:xfrm>
            <a:off x="9683496" y="3072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10168128" y="3072384"/>
            <a:ext cx="420624" cy="420624"/>
          </a:xfrm>
          <a:prstGeom prst="roundRect">
            <a:avLst>
              <a:gd name="adj" fmla="val 8696"/>
            </a:avLst>
          </a:prstGeom>
          <a:solidFill>
            <a:srgbClr val="F0F2F7"/>
          </a:solidFill>
          <a:ln/>
        </p:spPr>
      </p:sp>
      <p:sp>
        <p:nvSpPr>
          <p:cNvPr id="48" name="Text 46"/>
          <p:cNvSpPr/>
          <p:nvPr/>
        </p:nvSpPr>
        <p:spPr>
          <a:xfrm>
            <a:off x="10168128" y="3072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10652760" y="3072384"/>
            <a:ext cx="420624" cy="420624"/>
          </a:xfrm>
          <a:prstGeom prst="roundRect">
            <a:avLst>
              <a:gd name="adj" fmla="val 8696"/>
            </a:avLst>
          </a:prstGeom>
          <a:solidFill>
            <a:srgbClr val="F0F2F7"/>
          </a:solidFill>
          <a:ln/>
        </p:spPr>
      </p:sp>
      <p:sp>
        <p:nvSpPr>
          <p:cNvPr id="50" name="Text 48"/>
          <p:cNvSpPr/>
          <p:nvPr/>
        </p:nvSpPr>
        <p:spPr>
          <a:xfrm>
            <a:off x="10652760" y="3072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11137392" y="3072384"/>
            <a:ext cx="420624" cy="420624"/>
          </a:xfrm>
          <a:prstGeom prst="roundRect">
            <a:avLst>
              <a:gd name="adj" fmla="val 8696"/>
            </a:avLst>
          </a:prstGeom>
          <a:solidFill>
            <a:srgbClr val="4285F4"/>
          </a:solidFill>
          <a:ln/>
        </p:spPr>
      </p:sp>
      <p:sp>
        <p:nvSpPr>
          <p:cNvPr id="52" name="Text 50"/>
          <p:cNvSpPr/>
          <p:nvPr/>
        </p:nvSpPr>
        <p:spPr>
          <a:xfrm>
            <a:off x="11137392" y="3072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8229600" y="3557016"/>
            <a:ext cx="420624" cy="420624"/>
          </a:xfrm>
          <a:prstGeom prst="roundRect">
            <a:avLst>
              <a:gd name="adj" fmla="val 8696"/>
            </a:avLst>
          </a:prstGeom>
          <a:solidFill>
            <a:srgbClr val="EA4335"/>
          </a:solidFill>
          <a:ln/>
        </p:spPr>
      </p:sp>
      <p:sp>
        <p:nvSpPr>
          <p:cNvPr id="54" name="Text 52"/>
          <p:cNvSpPr/>
          <p:nvPr/>
        </p:nvSpPr>
        <p:spPr>
          <a:xfrm>
            <a:off x="8229600" y="35570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8714232" y="3557016"/>
            <a:ext cx="420624" cy="420624"/>
          </a:xfrm>
          <a:prstGeom prst="roundRect">
            <a:avLst>
              <a:gd name="adj" fmla="val 8696"/>
            </a:avLst>
          </a:prstGeom>
          <a:solidFill>
            <a:srgbClr val="F0F2F7"/>
          </a:solidFill>
          <a:ln/>
        </p:spPr>
      </p:sp>
      <p:sp>
        <p:nvSpPr>
          <p:cNvPr id="56" name="Text 54"/>
          <p:cNvSpPr/>
          <p:nvPr/>
        </p:nvSpPr>
        <p:spPr>
          <a:xfrm>
            <a:off x="8714232" y="35570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9198864" y="3557016"/>
            <a:ext cx="420624" cy="420624"/>
          </a:xfrm>
          <a:prstGeom prst="roundRect">
            <a:avLst>
              <a:gd name="adj" fmla="val 8696"/>
            </a:avLst>
          </a:prstGeom>
          <a:solidFill>
            <a:srgbClr val="F0F2F7"/>
          </a:solidFill>
          <a:ln/>
        </p:spPr>
      </p:sp>
      <p:sp>
        <p:nvSpPr>
          <p:cNvPr id="58" name="Text 56"/>
          <p:cNvSpPr/>
          <p:nvPr/>
        </p:nvSpPr>
        <p:spPr>
          <a:xfrm>
            <a:off x="9198864" y="35570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9683496" y="3557016"/>
            <a:ext cx="420624" cy="420624"/>
          </a:xfrm>
          <a:prstGeom prst="roundRect">
            <a:avLst>
              <a:gd name="adj" fmla="val 8696"/>
            </a:avLst>
          </a:prstGeom>
          <a:solidFill>
            <a:srgbClr val="34A853"/>
          </a:solidFill>
          <a:ln/>
        </p:spPr>
      </p:sp>
      <p:sp>
        <p:nvSpPr>
          <p:cNvPr id="60" name="Text 58"/>
          <p:cNvSpPr/>
          <p:nvPr/>
        </p:nvSpPr>
        <p:spPr>
          <a:xfrm>
            <a:off x="9683496" y="35570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10168128" y="3557016"/>
            <a:ext cx="420624" cy="420624"/>
          </a:xfrm>
          <a:prstGeom prst="roundRect">
            <a:avLst>
              <a:gd name="adj" fmla="val 8696"/>
            </a:avLst>
          </a:prstGeom>
          <a:solidFill>
            <a:srgbClr val="F0F2F7"/>
          </a:solidFill>
          <a:ln/>
        </p:spPr>
      </p:sp>
      <p:sp>
        <p:nvSpPr>
          <p:cNvPr id="62" name="Text 60"/>
          <p:cNvSpPr/>
          <p:nvPr/>
        </p:nvSpPr>
        <p:spPr>
          <a:xfrm>
            <a:off x="10168128" y="35570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10652760" y="3557016"/>
            <a:ext cx="420624" cy="420624"/>
          </a:xfrm>
          <a:prstGeom prst="roundRect">
            <a:avLst>
              <a:gd name="adj" fmla="val 8696"/>
            </a:avLst>
          </a:prstGeom>
          <a:solidFill>
            <a:srgbClr val="F0F2F7"/>
          </a:solidFill>
          <a:ln/>
        </p:spPr>
      </p:sp>
      <p:sp>
        <p:nvSpPr>
          <p:cNvPr id="64" name="Text 62"/>
          <p:cNvSpPr/>
          <p:nvPr/>
        </p:nvSpPr>
        <p:spPr>
          <a:xfrm>
            <a:off x="10652760" y="35570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11137392" y="3557016"/>
            <a:ext cx="420624" cy="420624"/>
          </a:xfrm>
          <a:prstGeom prst="roundRect">
            <a:avLst>
              <a:gd name="adj" fmla="val 8696"/>
            </a:avLst>
          </a:prstGeom>
          <a:solidFill>
            <a:srgbClr val="F0F2F7"/>
          </a:solidFill>
          <a:ln/>
        </p:spPr>
      </p:sp>
      <p:sp>
        <p:nvSpPr>
          <p:cNvPr id="66" name="Text 64"/>
          <p:cNvSpPr/>
          <p:nvPr/>
        </p:nvSpPr>
        <p:spPr>
          <a:xfrm>
            <a:off x="11137392" y="35570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8229600" y="4041648"/>
            <a:ext cx="420624" cy="420624"/>
          </a:xfrm>
          <a:prstGeom prst="roundRect">
            <a:avLst>
              <a:gd name="adj" fmla="val 8696"/>
            </a:avLst>
          </a:prstGeom>
          <a:solidFill>
            <a:srgbClr val="F0F2F7"/>
          </a:solidFill>
          <a:ln/>
        </p:spPr>
      </p:sp>
      <p:sp>
        <p:nvSpPr>
          <p:cNvPr id="68" name="Text 66"/>
          <p:cNvSpPr/>
          <p:nvPr/>
        </p:nvSpPr>
        <p:spPr>
          <a:xfrm>
            <a:off x="8229600" y="4041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8714232" y="4041648"/>
            <a:ext cx="420624" cy="420624"/>
          </a:xfrm>
          <a:prstGeom prst="roundRect">
            <a:avLst>
              <a:gd name="adj" fmla="val 8696"/>
            </a:avLst>
          </a:prstGeom>
          <a:solidFill>
            <a:srgbClr val="F0F2F7"/>
          </a:solidFill>
          <a:ln/>
        </p:spPr>
      </p:sp>
      <p:sp>
        <p:nvSpPr>
          <p:cNvPr id="70" name="Text 68"/>
          <p:cNvSpPr/>
          <p:nvPr/>
        </p:nvSpPr>
        <p:spPr>
          <a:xfrm>
            <a:off x="8714232" y="4041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9198864" y="4041648"/>
            <a:ext cx="420624" cy="420624"/>
          </a:xfrm>
          <a:prstGeom prst="roundRect">
            <a:avLst>
              <a:gd name="adj" fmla="val 8696"/>
            </a:avLst>
          </a:prstGeom>
          <a:solidFill>
            <a:srgbClr val="F0F2F7"/>
          </a:solidFill>
          <a:ln/>
        </p:spPr>
      </p:sp>
      <p:sp>
        <p:nvSpPr>
          <p:cNvPr id="72" name="Text 70"/>
          <p:cNvSpPr/>
          <p:nvPr/>
        </p:nvSpPr>
        <p:spPr>
          <a:xfrm>
            <a:off x="9198864" y="4041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9683496" y="4041648"/>
            <a:ext cx="420624" cy="420624"/>
          </a:xfrm>
          <a:prstGeom prst="roundRect">
            <a:avLst>
              <a:gd name="adj" fmla="val 8696"/>
            </a:avLst>
          </a:prstGeom>
          <a:solidFill>
            <a:srgbClr val="F0F2F7"/>
          </a:solidFill>
          <a:ln/>
        </p:spPr>
      </p:sp>
      <p:sp>
        <p:nvSpPr>
          <p:cNvPr id="74" name="Text 72"/>
          <p:cNvSpPr/>
          <p:nvPr/>
        </p:nvSpPr>
        <p:spPr>
          <a:xfrm>
            <a:off x="9683496" y="4041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10168128" y="4041648"/>
            <a:ext cx="420624" cy="420624"/>
          </a:xfrm>
          <a:prstGeom prst="roundRect">
            <a:avLst>
              <a:gd name="adj" fmla="val 8696"/>
            </a:avLst>
          </a:prstGeom>
          <a:solidFill>
            <a:srgbClr val="F0F2F7"/>
          </a:solidFill>
          <a:ln/>
        </p:spPr>
      </p:sp>
      <p:sp>
        <p:nvSpPr>
          <p:cNvPr id="76" name="Text 74"/>
          <p:cNvSpPr/>
          <p:nvPr/>
        </p:nvSpPr>
        <p:spPr>
          <a:xfrm>
            <a:off x="10168128" y="4041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10652760" y="4041648"/>
            <a:ext cx="420624" cy="420624"/>
          </a:xfrm>
          <a:prstGeom prst="roundRect">
            <a:avLst>
              <a:gd name="adj" fmla="val 8696"/>
            </a:avLst>
          </a:prstGeom>
          <a:solidFill>
            <a:srgbClr val="F0F2F7"/>
          </a:solidFill>
          <a:ln/>
        </p:spPr>
      </p:sp>
      <p:sp>
        <p:nvSpPr>
          <p:cNvPr id="78" name="Text 76"/>
          <p:cNvSpPr/>
          <p:nvPr/>
        </p:nvSpPr>
        <p:spPr>
          <a:xfrm>
            <a:off x="10652760" y="4041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11137392" y="4041648"/>
            <a:ext cx="420624" cy="420624"/>
          </a:xfrm>
          <a:prstGeom prst="roundRect">
            <a:avLst>
              <a:gd name="adj" fmla="val 8696"/>
            </a:avLst>
          </a:prstGeom>
          <a:solidFill>
            <a:srgbClr val="F0F2F7"/>
          </a:solidFill>
          <a:ln/>
        </p:spPr>
      </p:sp>
      <p:sp>
        <p:nvSpPr>
          <p:cNvPr id="80" name="Text 78"/>
          <p:cNvSpPr/>
          <p:nvPr/>
        </p:nvSpPr>
        <p:spPr>
          <a:xfrm>
            <a:off x="11137392" y="4041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18872" cy="118872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" y="384048"/>
            <a:ext cx="118872" cy="118872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877824" y="384048"/>
            <a:ext cx="118872" cy="118872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5" name="Text 3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3"/>
                </a:solidFill>
              </a:rPr>
              <a:t>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 da apresentação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em um item para navegar até o slide.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1911096"/>
            <a:ext cx="457200" cy="457200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911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18745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Objetivo do projeto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2752344"/>
            <a:ext cx="457200" cy="457200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752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17320" y="271576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Arquitetura em camadas (MVC)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" y="3593592"/>
            <a:ext cx="457200" cy="457200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593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17320" y="3557016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Diagrama de classes (UML)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22960" y="4434840"/>
            <a:ext cx="457200" cy="457200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17320" y="439826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Modelo e composição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22960" y="5276088"/>
            <a:ext cx="457200" cy="457200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276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523951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Validação com exceções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400800" y="1911096"/>
            <a:ext cx="457200" cy="457200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1911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95160" y="18745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Persistência em arquivo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400800" y="2752344"/>
            <a:ext cx="457200" cy="457200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2752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995160" y="271576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Demonstração ao vivo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400800" y="3593592"/>
            <a:ext cx="457200" cy="457200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0" y="3593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995160" y="3557016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Swing e eventos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400800" y="4434840"/>
            <a:ext cx="457200" cy="457200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995160" y="439826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Conceitos de POO aplicados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400800" y="5276088"/>
            <a:ext cx="457200" cy="457200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0" y="5276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995160" y="523951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Desafios e conclusão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18872" cy="118872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" y="384048"/>
            <a:ext cx="118872" cy="118872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877824" y="384048"/>
            <a:ext cx="118872" cy="118872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5" name="Text 3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3"/>
                </a:solidFill>
              </a:rPr>
              <a:t>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5B6473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Agenda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Arquitetura em camadas (MVC)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005840" y="1600200"/>
            <a:ext cx="51206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0E5E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152144" y="1746504"/>
            <a:ext cx="146304" cy="146304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10" name="Text 8"/>
          <p:cNvSpPr/>
          <p:nvPr/>
        </p:nvSpPr>
        <p:spPr>
          <a:xfrm>
            <a:off x="1389888" y="1691640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gui — Interface (View)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70432" y="2057400"/>
            <a:ext cx="47914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JanelaPrincipal, PainelCalendario, PainelEventosDia, DialogoEvento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566160" y="2606040"/>
            <a:ext cx="0" cy="411480"/>
          </a:xfrm>
          <a:prstGeom prst="line">
            <a:avLst/>
          </a:prstGeom>
          <a:noFill/>
          <a:ln w="22225">
            <a:solidFill>
              <a:srgbClr val="5B647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005840" y="3063240"/>
            <a:ext cx="51206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0E5E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152144" y="3209544"/>
            <a:ext cx="146304" cy="146304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15" name="Text 13"/>
          <p:cNvSpPr/>
          <p:nvPr/>
        </p:nvSpPr>
        <p:spPr>
          <a:xfrm>
            <a:off x="1389888" y="3154680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servico — Controller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70432" y="3520440"/>
            <a:ext cx="47914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GerenciadorEventos: validação, busca, lembretes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566160" y="4069080"/>
            <a:ext cx="0" cy="411480"/>
          </a:xfrm>
          <a:prstGeom prst="line">
            <a:avLst/>
          </a:prstGeom>
          <a:noFill/>
          <a:ln w="22225">
            <a:solidFill>
              <a:srgbClr val="5B6473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005840" y="4526280"/>
            <a:ext cx="51206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0E5E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152144" y="4672584"/>
            <a:ext cx="146304" cy="146304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20" name="Text 18"/>
          <p:cNvSpPr/>
          <p:nvPr/>
        </p:nvSpPr>
        <p:spPr>
          <a:xfrm>
            <a:off x="1389888" y="4617720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persistencia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70432" y="4983480"/>
            <a:ext cx="47914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RepositorioEventos (interface) → RepositorioEventosCSV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766560" y="3063240"/>
            <a:ext cx="42062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0E5E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12864" y="3209544"/>
            <a:ext cx="146304" cy="1463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7150608" y="3154680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modelo (Model)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31152" y="3520440"/>
            <a:ext cx="38770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Evento, Participante, Categoria, Antecedencia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126480" y="3538728"/>
            <a:ext cx="640080" cy="0"/>
          </a:xfrm>
          <a:prstGeom prst="line">
            <a:avLst/>
          </a:prstGeom>
          <a:noFill/>
          <a:ln w="22225">
            <a:solidFill>
              <a:srgbClr val="5B6473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6766560" y="429768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a GUI só conversa com o serviço; o serviço usa a interface de repositório. Trocar o meio de armazenamento não afeta o resto.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18872" cy="118872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" y="384048"/>
            <a:ext cx="118872" cy="118872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877824" y="384048"/>
            <a:ext cx="118872" cy="118872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5" name="Text 3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3"/>
                </a:solidFill>
              </a:rPr>
              <a:t>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5B6473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Agenda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Diagrama de classes (UML)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135331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Notação das aulas: herança (triângulo vazado), realização de interface (tracejado), composição (losango).</a:t>
            </a:r>
            <a:endParaRPr lang="en-US" sz="1200" dirty="0"/>
          </a:p>
        </p:txBody>
      </p:sp>
      <p:pic>
        <p:nvPicPr>
          <p:cNvPr id="9" name="Image 0" descr="/sessions/vibrant-hopeful-lamport/mnt/Projeto POO/diagrama_class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275" y="1691640"/>
            <a:ext cx="9628969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18872" cy="118872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" y="384048"/>
            <a:ext cx="118872" cy="118872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877824" y="384048"/>
            <a:ext cx="118872" cy="118872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5" name="Text 3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3"/>
                </a:solidFill>
              </a:rPr>
              <a:t>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5B6473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Agenda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Modelo: Evento e composição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59436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33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Evento: titulo, data, hora, local, descrição, categoria, antecedência.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33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COMPOSIÇÃO: um Evento TEM-UM Vector&lt;Participante&gt;, uma Categoria e uma Antecedência.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33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 e Antecedência são enums (conjunto fixo de valores com dados).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33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Encapsulamento: atributos private + métodos get/set.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33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toString() sobrescrito (polimorfismo) descreve o evento em uma linha.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0" y="1737360"/>
            <a:ext cx="42062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5E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004304" y="1883664"/>
            <a:ext cx="146304" cy="1463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7242048" y="1828800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22592" y="2194560"/>
            <a:ext cx="38770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titulo, data, hora, local…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addParticipante(p)  + toString()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858000" y="32004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0" y="32004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Reunião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549640" y="32004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/>
        </p:spPr>
      </p:sp>
      <p:sp>
        <p:nvSpPr>
          <p:cNvPr id="16" name="Text 14"/>
          <p:cNvSpPr/>
          <p:nvPr/>
        </p:nvSpPr>
        <p:spPr>
          <a:xfrm>
            <a:off x="8549640" y="32004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Aniversário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858000" y="374904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37490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Compromisso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858000" y="438912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categoria tem uma cor — usada para destacar os dias no calendário.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18872" cy="118872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" y="384048"/>
            <a:ext cx="118872" cy="118872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877824" y="384048"/>
            <a:ext cx="118872" cy="118872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5" name="Text 3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3"/>
                </a:solidFill>
              </a:rPr>
              <a:t>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5B6473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Agenda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Validação com exceções próprias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40080" y="1645920"/>
            <a:ext cx="40233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0E5E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86384" y="1792224"/>
            <a:ext cx="146304" cy="146304"/>
          </a:xfrm>
          <a:prstGeom prst="ellipse">
            <a:avLst/>
          </a:prstGeom>
          <a:solidFill>
            <a:srgbClr val="5B6473"/>
          </a:solidFill>
          <a:ln/>
        </p:spPr>
      </p:sp>
      <p:sp>
        <p:nvSpPr>
          <p:cNvPr id="10" name="Text 8"/>
          <p:cNvSpPr/>
          <p:nvPr/>
        </p:nvSpPr>
        <p:spPr>
          <a:xfrm>
            <a:off x="1024128" y="1737360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Exception (java.lang)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651760" y="2377440"/>
            <a:ext cx="0" cy="365760"/>
          </a:xfrm>
          <a:prstGeom prst="line">
            <a:avLst/>
          </a:prstGeom>
          <a:noFill/>
          <a:ln w="22225">
            <a:solidFill>
              <a:srgbClr val="5B6473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40080" y="2743200"/>
            <a:ext cx="40233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0E5E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86384" y="2889504"/>
            <a:ext cx="146304" cy="146304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14" name="Text 12"/>
          <p:cNvSpPr/>
          <p:nvPr/>
        </p:nvSpPr>
        <p:spPr>
          <a:xfrm>
            <a:off x="1024128" y="2834640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ValidacaoException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651760" y="3474720"/>
            <a:ext cx="0" cy="365760"/>
          </a:xfrm>
          <a:prstGeom prst="line">
            <a:avLst/>
          </a:prstGeom>
          <a:noFill/>
          <a:ln w="22225">
            <a:solidFill>
              <a:srgbClr val="5B647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40080" y="3840480"/>
            <a:ext cx="4023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5E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86384" y="3986784"/>
            <a:ext cx="146304" cy="146304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18" name="Text 16"/>
          <p:cNvSpPr/>
          <p:nvPr/>
        </p:nvSpPr>
        <p:spPr>
          <a:xfrm>
            <a:off x="1024128" y="3931920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TituloVazio · DataInvalida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04672" y="4297680"/>
            <a:ext cx="3694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HoraInvalida · EmailInvalido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0" y="164592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3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/ catch / finally trata os erros (Cap. 10).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3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Capturamos a base ValidacaoException — pega qualquer subclasse.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3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usuário vê JOptionPane, nunca um stack trace.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29200" y="3383280"/>
            <a:ext cx="6035040" cy="1600200"/>
          </a:xfrm>
          <a:prstGeom prst="roundRect">
            <a:avLst>
              <a:gd name="adj" fmla="val 3429"/>
            </a:avLst>
          </a:prstGeom>
          <a:solidFill>
            <a:srgbClr val="0E1B33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93792" y="3511296"/>
            <a:ext cx="5705856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gerenciador.adicionar(evento);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catch (ValidacaoException e) {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JOptionPane.showMessageDialog(this,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e.getMessage());   // mensagem amigável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18872" cy="118872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" y="384048"/>
            <a:ext cx="118872" cy="118872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877824" y="384048"/>
            <a:ext cx="118872" cy="118872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5" name="Text 3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3"/>
                </a:solidFill>
              </a:rPr>
              <a:t>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5B6473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Agenda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Persistência em arquivo (CSV)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6035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33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RepositorioEventos é uma INTERFACE (define o papel salvar/carregar).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33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RepositorioEventosCSV implementa: grava com PrintStream, lê com Scanner.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33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finally fecha o arquivo com segurança.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33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Robustez: arquivo ausente → agenda vazia; linha corrompida → é ignorada.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766560" y="1600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de uma linha do arquivo dados/eventos.csv: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766560" y="1965960"/>
            <a:ext cx="4846320" cy="1828800"/>
          </a:xfrm>
          <a:prstGeom prst="roundRect">
            <a:avLst>
              <a:gd name="adj" fmla="val 3000"/>
            </a:avLst>
          </a:prstGeom>
          <a:solidFill>
            <a:srgbClr val="0E1B33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931152" y="2093976"/>
            <a:ext cx="451713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titulo,data,hora,local,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categoria,antecedencia,desc,partic.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Reunião de TCC,2026-06-21,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14:30,Sala 3-001,REUNIAO,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UM_DIA,Revisar cap. 2,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Ana:ana@usp.br;Beto:beto@usp.br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766560" y="3977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puro, legível e fácil de versionar no Git.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2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18872" cy="118872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" y="384048"/>
            <a:ext cx="118872" cy="118872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877824" y="384048"/>
            <a:ext cx="118872" cy="118872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5" name="Text 3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Demonstração ao vivo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822960" y="2377440"/>
            <a:ext cx="457200" cy="457200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2350008"/>
            <a:ext cx="9692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o app → aparece o aviso de lembretes das próximas 24h.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3035808"/>
            <a:ext cx="457200" cy="457200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3008376"/>
            <a:ext cx="9692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Navegar entre meses e clicar em um dia.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" y="3694176"/>
            <a:ext cx="457200" cy="457200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694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3666744"/>
            <a:ext cx="9692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um evento, adicionar um participante e salvar.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2960" y="4352544"/>
            <a:ext cx="457200" cy="457200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352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4325112"/>
            <a:ext cx="9692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o dia destacado com a cor da categoria.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22960" y="5010912"/>
            <a:ext cx="457200" cy="457200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010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63040" y="4983480"/>
            <a:ext cx="9692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Editar e excluir um evento.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22960" y="5669280"/>
            <a:ext cx="457200" cy="457200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5669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63040" y="5641848"/>
            <a:ext cx="9692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por palavra-chave.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18872" cy="118872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" y="384048"/>
            <a:ext cx="118872" cy="118872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877824" y="384048"/>
            <a:ext cx="118872" cy="118872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5" name="Text 3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3"/>
                </a:solidFill>
              </a:rPr>
              <a:t>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5B6473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Agenda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Swing e programação orientada a eventos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5943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33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Componentes: JFrame, JPanel, JButton, JTextField, JList, JRadioButton, JMenuBar.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33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Layouts: BorderLayout (telas), GridLayout (grade do calendário), FlowLayout.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33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clique gera um evento; um listener o trata em actionPerformed.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33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e.getSource() identifica qual componente disparou.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4892040"/>
            <a:ext cx="1234440" cy="777240"/>
          </a:xfrm>
          <a:prstGeom prst="roundRect">
            <a:avLst>
              <a:gd name="adj" fmla="val 7059"/>
            </a:avLst>
          </a:prstGeom>
          <a:solidFill>
            <a:srgbClr val="F4F6FA"/>
          </a:solidFill>
          <a:ln w="12700">
            <a:solidFill>
              <a:srgbClr val="E0E5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89204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74520" y="5276088"/>
            <a:ext cx="228600" cy="0"/>
          </a:xfrm>
          <a:prstGeom prst="line">
            <a:avLst/>
          </a:prstGeom>
          <a:noFill/>
          <a:ln w="19050">
            <a:solidFill>
              <a:srgbClr val="5B6473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103120" y="4892040"/>
            <a:ext cx="1234440" cy="777240"/>
          </a:xfrm>
          <a:prstGeom prst="roundRect">
            <a:avLst>
              <a:gd name="adj" fmla="val 7059"/>
            </a:avLst>
          </a:prstGeom>
          <a:solidFill>
            <a:srgbClr val="F4F6FA"/>
          </a:solidFill>
          <a:ln w="12700">
            <a:solidFill>
              <a:srgbClr val="E0E5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489204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JButton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37560" y="5276088"/>
            <a:ext cx="228600" cy="0"/>
          </a:xfrm>
          <a:prstGeom prst="line">
            <a:avLst/>
          </a:prstGeom>
          <a:noFill/>
          <a:ln w="19050">
            <a:solidFill>
              <a:srgbClr val="5B647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566160" y="4892040"/>
            <a:ext cx="123444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 w="12700">
            <a:solidFill>
              <a:srgbClr val="E0E5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6160" y="489204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action-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Performed()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5276088"/>
            <a:ext cx="228600" cy="0"/>
          </a:xfrm>
          <a:prstGeom prst="line">
            <a:avLst/>
          </a:prstGeom>
          <a:noFill/>
          <a:ln w="19050">
            <a:solidFill>
              <a:srgbClr val="5B6473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029200" y="4892040"/>
            <a:ext cx="1234440" cy="777240"/>
          </a:xfrm>
          <a:prstGeom prst="roundRect">
            <a:avLst>
              <a:gd name="adj" fmla="val 7059"/>
            </a:avLst>
          </a:prstGeom>
          <a:solidFill>
            <a:srgbClr val="F4F6FA"/>
          </a:solidFill>
          <a:ln w="12700">
            <a:solidFill>
              <a:srgbClr val="E0E5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489204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Janela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66560" y="1691640"/>
            <a:ext cx="4846320" cy="2697480"/>
          </a:xfrm>
          <a:prstGeom prst="roundRect">
            <a:avLst>
              <a:gd name="adj" fmla="val 2034"/>
            </a:avLst>
          </a:prstGeom>
          <a:solidFill>
            <a:srgbClr val="0E1B33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931152" y="1819656"/>
            <a:ext cx="4517136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botao.addActionListener(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new ActionListener() {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actionPerformed(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ActionEvent e) {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mostrarEventosDoDia(dia);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18872" cy="118872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" y="384048"/>
            <a:ext cx="118872" cy="118872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877824" y="384048"/>
            <a:ext cx="118872" cy="118872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5" name="Text 3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3"/>
                </a:solidFill>
              </a:rPr>
              <a:t>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5B6473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Agenda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Conceitos de POO aplicados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40080" y="1691640"/>
            <a:ext cx="347472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0E5E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86384" y="1837944"/>
            <a:ext cx="146304" cy="146304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10" name="Text 8"/>
          <p:cNvSpPr/>
          <p:nvPr/>
        </p:nvSpPr>
        <p:spPr>
          <a:xfrm>
            <a:off x="1024128" y="178308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Encapsulamento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04672" y="2148840"/>
            <a:ext cx="314553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private + get/set no modelo.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43400" y="1691640"/>
            <a:ext cx="347472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0E5E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89704" y="1837944"/>
            <a:ext cx="146304" cy="146304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14" name="Text 12"/>
          <p:cNvSpPr/>
          <p:nvPr/>
        </p:nvSpPr>
        <p:spPr>
          <a:xfrm>
            <a:off x="4727448" y="178308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Herança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07992" y="2148840"/>
            <a:ext cx="314553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JFrame, JTextField e a hierarquia de exceções.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46720" y="1691640"/>
            <a:ext cx="347472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0E5E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93024" y="1837944"/>
            <a:ext cx="146304" cy="146304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8" name="Text 16"/>
          <p:cNvSpPr/>
          <p:nvPr/>
        </p:nvSpPr>
        <p:spPr>
          <a:xfrm>
            <a:off x="8430768" y="178308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Polimorfismo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11312" y="2148840"/>
            <a:ext cx="314553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toString(), interface e catch da superclasse.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3566160"/>
            <a:ext cx="347472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0E5E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86384" y="3712464"/>
            <a:ext cx="146304" cy="146304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22" name="Text 20"/>
          <p:cNvSpPr/>
          <p:nvPr/>
        </p:nvSpPr>
        <p:spPr>
          <a:xfrm>
            <a:off x="1024128" y="365760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Abstração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04672" y="4023360"/>
            <a:ext cx="314553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RepositorioEventos define o papel.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43400" y="3566160"/>
            <a:ext cx="347472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0E5E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89704" y="3712464"/>
            <a:ext cx="146304" cy="146304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26" name="Text 24"/>
          <p:cNvSpPr/>
          <p:nvPr/>
        </p:nvSpPr>
        <p:spPr>
          <a:xfrm>
            <a:off x="4727448" y="365760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Composição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07992" y="4023360"/>
            <a:ext cx="314553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TEM Vector&lt;Participante&gt; e Categoria.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046720" y="3566160"/>
            <a:ext cx="347472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0E5E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193024" y="3712464"/>
            <a:ext cx="146304" cy="146304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30" name="Text 28"/>
          <p:cNvSpPr/>
          <p:nvPr/>
        </p:nvSpPr>
        <p:spPr>
          <a:xfrm>
            <a:off x="8430768" y="365760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Exceções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211312" y="4023360"/>
            <a:ext cx="314553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try/catch/finally + exceções próprias.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18872" cy="118872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" y="384048"/>
            <a:ext cx="118872" cy="118872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877824" y="384048"/>
            <a:ext cx="118872" cy="118872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5" name="Text 3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3"/>
                </a:solidFill>
              </a:rPr>
              <a:t>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5B6473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Agenda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Principais desafios e soluções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40080" y="1691640"/>
            <a:ext cx="4937760" cy="9144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E0E5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7830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202082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 não vistas em aula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23560" y="2148840"/>
            <a:ext cx="274320" cy="0"/>
          </a:xfrm>
          <a:prstGeom prst="line">
            <a:avLst/>
          </a:prstGeom>
          <a:noFill/>
          <a:ln w="19050">
            <a:solidFill>
              <a:srgbClr val="5B6473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989320" y="1691640"/>
            <a:ext cx="55321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34A8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2200" y="178308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72200" y="2020824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java.time (LocalDate/YearMonth), isolado e comentado.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2770632"/>
            <a:ext cx="4937760" cy="9144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E0E5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28620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309981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Lembrete sem thread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623560" y="3227832"/>
            <a:ext cx="274320" cy="0"/>
          </a:xfrm>
          <a:prstGeom prst="line">
            <a:avLst/>
          </a:prstGeom>
          <a:noFill/>
          <a:ln w="19050">
            <a:solidFill>
              <a:srgbClr val="5B647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989320" y="2770632"/>
            <a:ext cx="55321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34A85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286207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72200" y="3099816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o instante do lembrete com agora..+24h na inicialização.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3849624"/>
            <a:ext cx="4937760" cy="9144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E0E5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394106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" y="417880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 corrompido/ausente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623560" y="4306824"/>
            <a:ext cx="274320" cy="0"/>
          </a:xfrm>
          <a:prstGeom prst="line">
            <a:avLst/>
          </a:prstGeom>
          <a:noFill/>
          <a:ln w="19050">
            <a:solidFill>
              <a:srgbClr val="5B6473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989320" y="3849624"/>
            <a:ext cx="55321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34A85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72200" y="394106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72200" y="4178808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try/catch: pula linha inválida; sem arquivo → agenda vazia.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0080" y="4928616"/>
            <a:ext cx="4937760" cy="9144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E0E5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502005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22960" y="52578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Misturar GUI e lógica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5623560" y="5385816"/>
            <a:ext cx="274320" cy="0"/>
          </a:xfrm>
          <a:prstGeom prst="line">
            <a:avLst/>
          </a:prstGeom>
          <a:noFill/>
          <a:ln w="19050">
            <a:solidFill>
              <a:srgbClr val="5B6473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5989320" y="4928616"/>
            <a:ext cx="55321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34A85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72200" y="502005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72200" y="5257800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de serviço + interface de repositório (MVC).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2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18872" cy="118872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" y="384048"/>
            <a:ext cx="118872" cy="118872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877824" y="384048"/>
            <a:ext cx="118872" cy="118872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5" name="Text 3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13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Conclusão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10789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Cumpre todos os requisitos da versão Compacta (SCC0504).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Exercita, de forma integrada, os principais conceitos de POO das aulas.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além das aulas (java.time, enum, generics) estão comentados no código.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em camadas pronta para evoluir (recorrência, lembrete em tempo real).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4297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Obrigado!  Perguntas?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66928" y="5212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Repositório: src/ · Relatório · Guia de Estudo · Diagrama UML · README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ICMC-USP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Event Planner</dc:title>
  <dc:subject>Projeto de POO</dc:subject>
  <dc:creator>Equipe SCC0504</dc:creator>
  <cp:lastModifiedBy>Equipe SCC0504</cp:lastModifiedBy>
  <cp:revision>1</cp:revision>
  <dcterms:created xsi:type="dcterms:W3CDTF">2026-06-21T01:55:07Z</dcterms:created>
  <dcterms:modified xsi:type="dcterms:W3CDTF">2026-06-21T01:55:07Z</dcterms:modified>
</cp:coreProperties>
</file>